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y="5143500" cx="9144000"/>
  <p:notesSz cx="6858000" cy="9144000"/>
  <p:embeddedFontLst>
    <p:embeddedFont>
      <p:font typeface="Raleway"/>
      <p:regular r:id="rId24"/>
      <p:bold r:id="rId25"/>
      <p:italic r:id="rId26"/>
      <p:boldItalic r:id="rId27"/>
    </p:embeddedFont>
    <p:embeddedFont>
      <p:font typeface="Playfair Display"/>
      <p:regular r:id="rId28"/>
      <p:bold r:id="rId29"/>
      <p:italic r:id="rId30"/>
      <p:boldItalic r:id="rId31"/>
    </p:embeddedFont>
    <p:embeddedFont>
      <p:font typeface="Lato"/>
      <p:regular r:id="rId32"/>
      <p:bold r:id="rId33"/>
      <p:italic r:id="rId34"/>
      <p:boldItalic r:id="rId35"/>
    </p:embeddedFont>
    <p:embeddedFont>
      <p:font typeface="Lato Black"/>
      <p:bold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4559E56-DCB9-408B-BCCB-2A31E99D03E0}">
  <a:tblStyle styleId="{14559E56-DCB9-408B-BCCB-2A31E99D03E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Raleway-regular.fntdata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Raleway-italic.fntdata"/><Relationship Id="rId25" Type="http://schemas.openxmlformats.org/officeDocument/2006/relationships/font" Target="fonts/Raleway-bold.fntdata"/><Relationship Id="rId28" Type="http://schemas.openxmlformats.org/officeDocument/2006/relationships/font" Target="fonts/PlayfairDisplay-regular.fntdata"/><Relationship Id="rId27" Type="http://schemas.openxmlformats.org/officeDocument/2006/relationships/font" Target="fonts/Raleway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PlayfairDisplay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PlayfairDisplay-boldItalic.fntdata"/><Relationship Id="rId30" Type="http://schemas.openxmlformats.org/officeDocument/2006/relationships/font" Target="fonts/PlayfairDisplay-italic.fntdata"/><Relationship Id="rId11" Type="http://schemas.openxmlformats.org/officeDocument/2006/relationships/slide" Target="slides/slide5.xml"/><Relationship Id="rId33" Type="http://schemas.openxmlformats.org/officeDocument/2006/relationships/font" Target="fonts/Lato-bold.fntdata"/><Relationship Id="rId10" Type="http://schemas.openxmlformats.org/officeDocument/2006/relationships/slide" Target="slides/slide4.xml"/><Relationship Id="rId32" Type="http://schemas.openxmlformats.org/officeDocument/2006/relationships/font" Target="fonts/Lato-regular.fntdata"/><Relationship Id="rId13" Type="http://schemas.openxmlformats.org/officeDocument/2006/relationships/slide" Target="slides/slide7.xml"/><Relationship Id="rId35" Type="http://schemas.openxmlformats.org/officeDocument/2006/relationships/font" Target="fonts/Lato-boldItalic.fntdata"/><Relationship Id="rId12" Type="http://schemas.openxmlformats.org/officeDocument/2006/relationships/slide" Target="slides/slide6.xml"/><Relationship Id="rId34" Type="http://schemas.openxmlformats.org/officeDocument/2006/relationships/font" Target="fonts/Lato-italic.fntdata"/><Relationship Id="rId15" Type="http://schemas.openxmlformats.org/officeDocument/2006/relationships/slide" Target="slides/slide9.xml"/><Relationship Id="rId37" Type="http://schemas.openxmlformats.org/officeDocument/2006/relationships/font" Target="fonts/LatoBlack-boldItalic.fntdata"/><Relationship Id="rId14" Type="http://schemas.openxmlformats.org/officeDocument/2006/relationships/slide" Target="slides/slide8.xml"/><Relationship Id="rId36" Type="http://schemas.openxmlformats.org/officeDocument/2006/relationships/font" Target="fonts/LatoBlack-bold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cb9a0b074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cb9a0b074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d5b15f0a3_5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d5b15f0a3_5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723630543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723630543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d251bb473_0_6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d251bb473_0_6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d251bb473_0_6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d251bb473_0_6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bb293e6cf7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bb293e6cf7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e965474a9_3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e965474a9_3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bb293e6cf7_3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bb293e6cf7_3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cb9a0b074_1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cb9a0b074_1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bb293e6cf7_3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bb293e6cf7_3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bb293e6cf7_3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bb293e6cf7_3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bb293e6cf7_3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bb293e6cf7_3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bb293e6cf7_3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bb293e6cf7_3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bb293e6cf7_3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bb293e6cf7_3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bb293e6cf7_3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bb293e6cf7_3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cb9a0b074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cb9a0b074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cb9a0b074_1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cb9a0b074_1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" name="Google Shape;12;p2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" name="Google Shape;18;p3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" name="Google Shape;19;p3"/>
          <p:cNvSpPr txBox="1"/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4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" name="Google Shape;23;p4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" name="Google Shape;24;p4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" name="Google Shape;25;p4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Google Shape;29;p5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" name="Google Shape;30;p5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" name="Google Shape;31;p5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" name="Google Shape;32;p5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2400303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2" type="body"/>
          </p:nvPr>
        </p:nvSpPr>
        <p:spPr>
          <a:xfrm>
            <a:off x="5650572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Google Shape;40;p7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7"/>
          <p:cNvSpPr txBox="1"/>
          <p:nvPr>
            <p:ph type="title"/>
          </p:nvPr>
        </p:nvSpPr>
        <p:spPr>
          <a:xfrm>
            <a:off x="319500" y="936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319500" y="1846804"/>
            <a:ext cx="2808000" cy="28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" name="Google Shape;43;p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rgbClr val="353535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Google Shape;45;p8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" name="Google Shape;46;p8"/>
          <p:cNvSpPr txBox="1"/>
          <p:nvPr>
            <p:ph type="title"/>
          </p:nvPr>
        </p:nvSpPr>
        <p:spPr>
          <a:xfrm>
            <a:off x="283103" y="712141"/>
            <a:ext cx="6244200" cy="383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" name="Google Shape;5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" name="Google Shape;51;p9"/>
          <p:cNvSpPr txBox="1"/>
          <p:nvPr>
            <p:ph type="title"/>
          </p:nvPr>
        </p:nvSpPr>
        <p:spPr>
          <a:xfrm>
            <a:off x="265500" y="1397350"/>
            <a:ext cx="4045200" cy="131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9"/>
          <p:cNvSpPr txBox="1"/>
          <p:nvPr>
            <p:ph idx="1" type="subTitle"/>
          </p:nvPr>
        </p:nvSpPr>
        <p:spPr>
          <a:xfrm>
            <a:off x="265500" y="273537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4" name="Google Shape;54;p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Google Shape;56;p10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" name="Google Shape;57;p10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" name="Google Shape;58;p10"/>
          <p:cNvSpPr txBox="1"/>
          <p:nvPr>
            <p:ph idx="1" type="body"/>
          </p:nvPr>
        </p:nvSpPr>
        <p:spPr>
          <a:xfrm>
            <a:off x="328017" y="4226025"/>
            <a:ext cx="8388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9" name="Google Shape;59;p1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Google Shape;61;p11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" name="Google Shape;62;p11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" name="Google Shape;63;p11"/>
          <p:cNvSpPr txBox="1"/>
          <p:nvPr>
            <p:ph hasCustomPrompt="1" type="title"/>
          </p:nvPr>
        </p:nvSpPr>
        <p:spPr>
          <a:xfrm>
            <a:off x="853950" y="1304850"/>
            <a:ext cx="74361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853950" y="2919450"/>
            <a:ext cx="74361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wiss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3"/>
          <p:cNvSpPr txBox="1"/>
          <p:nvPr>
            <p:ph type="ctrTitle"/>
          </p:nvPr>
        </p:nvSpPr>
        <p:spPr>
          <a:xfrm>
            <a:off x="247675" y="1029750"/>
            <a:ext cx="84741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0" lang="en" sz="52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Smart College Complaints Resolution System</a:t>
            </a:r>
            <a:endParaRPr b="0" sz="5200">
              <a:solidFill>
                <a:schemeClr val="dk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3"/>
          <p:cNvSpPr txBox="1"/>
          <p:nvPr>
            <p:ph idx="1" type="subTitle"/>
          </p:nvPr>
        </p:nvSpPr>
        <p:spPr>
          <a:xfrm>
            <a:off x="4228725" y="2867225"/>
            <a:ext cx="4635000" cy="1785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2800">
                <a:solidFill>
                  <a:srgbClr val="0C34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Members:</a:t>
            </a:r>
            <a:br>
              <a:rPr lang="en" sz="2800">
                <a:solidFill>
                  <a:srgbClr val="0C34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2800">
                <a:solidFill>
                  <a:srgbClr val="0C34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B. Aashish      -23071A66E0</a:t>
            </a:r>
            <a:endParaRPr sz="2800">
              <a:solidFill>
                <a:srgbClr val="0C343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2800">
                <a:solidFill>
                  <a:srgbClr val="0C34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K.Sai Charan  -23071A66F9</a:t>
            </a:r>
            <a:endParaRPr sz="2800">
              <a:solidFill>
                <a:srgbClr val="0C343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2800">
                <a:solidFill>
                  <a:srgbClr val="0C34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K.Tejaswi       -23071A66G0</a:t>
            </a:r>
            <a:endParaRPr sz="2800">
              <a:solidFill>
                <a:srgbClr val="0C343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4" name="Google Shape;74;p13"/>
          <p:cNvSpPr txBox="1"/>
          <p:nvPr/>
        </p:nvSpPr>
        <p:spPr>
          <a:xfrm>
            <a:off x="247675" y="3577875"/>
            <a:ext cx="3286500" cy="76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0C34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Guide:</a:t>
            </a:r>
            <a:br>
              <a:rPr lang="en" sz="2100">
                <a:solidFill>
                  <a:srgbClr val="0C34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2100">
                <a:solidFill>
                  <a:srgbClr val="0C34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Dr.M.Gangappa</a:t>
            </a:r>
            <a:endParaRPr sz="2100">
              <a:solidFill>
                <a:srgbClr val="0C343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5" name="Google Shape;75;p13"/>
          <p:cNvSpPr txBox="1"/>
          <p:nvPr/>
        </p:nvSpPr>
        <p:spPr>
          <a:xfrm>
            <a:off x="2341975" y="3653325"/>
            <a:ext cx="1969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C34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Class:</a:t>
            </a:r>
            <a:br>
              <a:rPr lang="en" sz="2000">
                <a:solidFill>
                  <a:srgbClr val="0C34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2000">
                <a:solidFill>
                  <a:srgbClr val="0C34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AIML-C</a:t>
            </a:r>
            <a:endParaRPr sz="2000">
              <a:solidFill>
                <a:srgbClr val="0C343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6" name="Google Shape;7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850" y="155175"/>
            <a:ext cx="2688031" cy="766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4"/>
          <p:cNvSpPr txBox="1"/>
          <p:nvPr>
            <p:ph idx="4294967295" type="title"/>
          </p:nvPr>
        </p:nvSpPr>
        <p:spPr>
          <a:xfrm>
            <a:off x="0" y="0"/>
            <a:ext cx="5197200" cy="7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0" lang="en" sz="3577"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 b="0" sz="3577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 b="0" sz="2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</a:endParaRPr>
          </a:p>
        </p:txBody>
      </p:sp>
      <p:sp>
        <p:nvSpPr>
          <p:cNvPr id="82" name="Google Shape;82;p14"/>
          <p:cNvSpPr txBox="1"/>
          <p:nvPr>
            <p:ph idx="4294967295" type="title"/>
          </p:nvPr>
        </p:nvSpPr>
        <p:spPr>
          <a:xfrm>
            <a:off x="0" y="527625"/>
            <a:ext cx="8955300" cy="112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0" lang="en" sz="1800">
                <a:latin typeface="Lato"/>
                <a:ea typeface="Lato"/>
                <a:cs typeface="Lato"/>
                <a:sym typeface="Lato"/>
              </a:rPr>
              <a:t>Existing college complaint management systems rely on manual processing, leading to delayed responses, inconsistent prioritization, and inefficiency in handling large volumes of student complaints.</a:t>
            </a:r>
            <a:endParaRPr sz="17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3" name="Google Shape;83;p14"/>
          <p:cNvSpPr/>
          <p:nvPr/>
        </p:nvSpPr>
        <p:spPr>
          <a:xfrm>
            <a:off x="231550" y="1679575"/>
            <a:ext cx="4239600" cy="32208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4" name="Google Shape;84;p14"/>
          <p:cNvSpPr/>
          <p:nvPr/>
        </p:nvSpPr>
        <p:spPr>
          <a:xfrm>
            <a:off x="4715700" y="1648725"/>
            <a:ext cx="4239600" cy="32208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5" name="Google Shape;85;p14"/>
          <p:cNvSpPr txBox="1"/>
          <p:nvPr/>
        </p:nvSpPr>
        <p:spPr>
          <a:xfrm>
            <a:off x="445175" y="1930550"/>
            <a:ext cx="3845400" cy="26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dk2"/>
                </a:solidFill>
              </a:rPr>
              <a:t>Existing System</a:t>
            </a:r>
            <a:endParaRPr b="1"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Complaints are reviewed and categorized manually</a:t>
            </a:r>
            <a:br>
              <a:rPr lang="en" sz="1800">
                <a:solidFill>
                  <a:schemeClr val="dk2"/>
                </a:solidFill>
              </a:rPr>
            </a:br>
            <a:r>
              <a:rPr lang="en" sz="1800">
                <a:solidFill>
                  <a:schemeClr val="dk2"/>
                </a:solidFill>
              </a:rPr>
              <a:t>Urgency is decided based on human judgment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High response time for large complaint volumes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Lack of consistent prioritization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6" name="Google Shape;86;p14"/>
          <p:cNvSpPr txBox="1"/>
          <p:nvPr/>
        </p:nvSpPr>
        <p:spPr>
          <a:xfrm>
            <a:off x="4914925" y="1915600"/>
            <a:ext cx="3845400" cy="26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2"/>
                </a:solidFill>
              </a:rPr>
              <a:t>P</a:t>
            </a:r>
            <a:r>
              <a:rPr b="1" lang="en" sz="1800">
                <a:solidFill>
                  <a:schemeClr val="dk2"/>
                </a:solidFill>
              </a:rPr>
              <a:t>roposed System</a:t>
            </a:r>
            <a:endParaRPr b="1" sz="1800">
              <a:solidFill>
                <a:schemeClr val="dk2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" sz="1600">
                <a:solidFill>
                  <a:schemeClr val="dk2"/>
                </a:solidFill>
              </a:rPr>
              <a:t>AI-based automatic complaint categorization</a:t>
            </a:r>
            <a:endParaRPr sz="1600">
              <a:solidFill>
                <a:schemeClr val="dk2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" sz="1600">
                <a:solidFill>
                  <a:schemeClr val="dk2"/>
                </a:solidFill>
              </a:rPr>
              <a:t>Urgency prediction using machine learning</a:t>
            </a:r>
            <a:endParaRPr sz="1600">
              <a:solidFill>
                <a:schemeClr val="dk2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" sz="1600">
                <a:solidFill>
                  <a:schemeClr val="dk2"/>
                </a:solidFill>
              </a:rPr>
              <a:t>Faster routing to the concerned department</a:t>
            </a:r>
            <a:endParaRPr sz="1600">
              <a:solidFill>
                <a:schemeClr val="dk2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" sz="1600">
                <a:solidFill>
                  <a:schemeClr val="dk2"/>
                </a:solidFill>
              </a:rPr>
              <a:t>Improved efficiency and transparency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8700" y="162725"/>
            <a:ext cx="8725874" cy="48180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92" name="Google Shape;92;p15"/>
          <p:cNvPicPr preferRelativeResize="0"/>
          <p:nvPr/>
        </p:nvPicPr>
        <p:blipFill rotWithShape="1">
          <a:blip r:embed="rId4">
            <a:alphaModFix/>
          </a:blip>
          <a:srcRect b="10011" l="9244" r="2118" t="5926"/>
          <a:stretch/>
        </p:blipFill>
        <p:spPr>
          <a:xfrm rot="154828">
            <a:off x="3536000" y="147301"/>
            <a:ext cx="2072000" cy="73605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5"/>
          <p:cNvSpPr txBox="1"/>
          <p:nvPr>
            <p:ph idx="4294967295" type="body"/>
          </p:nvPr>
        </p:nvSpPr>
        <p:spPr>
          <a:xfrm>
            <a:off x="823150" y="485950"/>
            <a:ext cx="7509900" cy="421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" sz="2000">
                <a:latin typeface="Arial"/>
                <a:ea typeface="Arial"/>
                <a:cs typeface="Arial"/>
                <a:sym typeface="Arial"/>
              </a:rPr>
              <a:t>Motivation for the Project</a:t>
            </a:r>
            <a:endParaRPr b="1" sz="20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Rapid increase in student complaints makes manual processing slow and unreliable</a:t>
            </a:r>
            <a:br>
              <a:rPr lang="en" sz="1400">
                <a:latin typeface="Arial"/>
                <a:ea typeface="Arial"/>
                <a:cs typeface="Arial"/>
                <a:sym typeface="Arial"/>
              </a:rPr>
            </a:b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Delayed responses reduce student trust in institutional grievance systems</a:t>
            </a:r>
            <a:br>
              <a:rPr lang="en" sz="1400">
                <a:latin typeface="Arial"/>
                <a:ea typeface="Arial"/>
                <a:cs typeface="Arial"/>
                <a:sym typeface="Arial"/>
              </a:rPr>
            </a:b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Poor prioritization often causes urgent issues to be handled late</a:t>
            </a:r>
            <a:br>
              <a:rPr lang="en" sz="1400">
                <a:latin typeface="Arial"/>
                <a:ea typeface="Arial"/>
                <a:cs typeface="Arial"/>
                <a:sym typeface="Arial"/>
              </a:rPr>
            </a:b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Need for an AI-based system to ensure faster, fair, and transparent resolution</a:t>
            </a:r>
            <a:br>
              <a:rPr lang="en" sz="1400">
                <a:latin typeface="Arial"/>
                <a:ea typeface="Arial"/>
                <a:cs typeface="Arial"/>
                <a:sym typeface="Arial"/>
              </a:rPr>
            </a:br>
            <a:endParaRPr b="1"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" sz="1400">
                <a:latin typeface="Arial"/>
                <a:ea typeface="Arial"/>
                <a:cs typeface="Arial"/>
                <a:sym typeface="Arial"/>
              </a:rPr>
              <a:t>Real Case Example</a:t>
            </a:r>
            <a:endParaRPr b="1"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A hostel water supply complaint was processed late because it was treated as a routine issue, causing inconvenience to many students and highlighting the need for automatic urgency detection.</a:t>
            </a:r>
            <a:br>
              <a:rPr lang="en" sz="1400">
                <a:latin typeface="Arial"/>
                <a:ea typeface="Arial"/>
                <a:cs typeface="Arial"/>
                <a:sym typeface="Arial"/>
              </a:rPr>
            </a:b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000"/>
              </a:spcAft>
              <a:buNone/>
            </a:pPr>
            <a:r>
              <a:t/>
            </a:r>
            <a:endParaRPr b="1" sz="1500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2913" y="284875"/>
            <a:ext cx="7178173" cy="4785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7"/>
          <p:cNvSpPr txBox="1"/>
          <p:nvPr>
            <p:ph type="title"/>
          </p:nvPr>
        </p:nvSpPr>
        <p:spPr>
          <a:xfrm>
            <a:off x="527325" y="529250"/>
            <a:ext cx="7805700" cy="88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>
                <a:solidFill>
                  <a:schemeClr val="accent5"/>
                </a:solidFill>
              </a:rPr>
              <a:t>Technologies Used &amp; Overall System </a:t>
            </a:r>
            <a:endParaRPr sz="3300"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3300">
                <a:solidFill>
                  <a:schemeClr val="accent5"/>
                </a:solidFill>
              </a:rPr>
              <a:t>explanation:</a:t>
            </a:r>
            <a:endParaRPr sz="3300">
              <a:solidFill>
                <a:schemeClr val="accent5"/>
              </a:solidFill>
            </a:endParaRPr>
          </a:p>
        </p:txBody>
      </p:sp>
      <p:sp>
        <p:nvSpPr>
          <p:cNvPr id="104" name="Google Shape;104;p17"/>
          <p:cNvSpPr txBox="1"/>
          <p:nvPr/>
        </p:nvSpPr>
        <p:spPr>
          <a:xfrm>
            <a:off x="346575" y="2008225"/>
            <a:ext cx="2613000" cy="18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Char char="➔"/>
            </a:pPr>
            <a:r>
              <a:rPr lang="en"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Natural Language Processing (NLP)</a:t>
            </a: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Char char="➔"/>
            </a:pPr>
            <a:r>
              <a:rPr lang="en"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TF-IDF</a:t>
            </a: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Char char="➔"/>
            </a:pPr>
            <a:r>
              <a:rPr lang="en"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Logistic Regression</a:t>
            </a: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Char char="➔"/>
            </a:pPr>
            <a:r>
              <a:rPr lang="en"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Python</a:t>
            </a: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Char char="➔"/>
            </a:pPr>
            <a:r>
              <a:rPr lang="en"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Flask</a:t>
            </a: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Char char="➔"/>
            </a:pPr>
            <a:r>
              <a:rPr lang="en"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MySQL / MongoDB</a:t>
            </a: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5" name="Google Shape;105;p17"/>
          <p:cNvSpPr txBox="1"/>
          <p:nvPr/>
        </p:nvSpPr>
        <p:spPr>
          <a:xfrm>
            <a:off x="3173100" y="1761725"/>
            <a:ext cx="5970900" cy="36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</a:pPr>
            <a:r>
              <a:rPr lang="en" sz="1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Students submit complaints through an online portal</a:t>
            </a:r>
            <a:br>
              <a:rPr lang="en" sz="1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en" sz="1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Complaint text is processed using NLP techniques</a:t>
            </a:r>
            <a:endParaRPr sz="17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</a:pPr>
            <a:r>
              <a:rPr lang="en" sz="1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TF-IDF converts complaint text into numerical features</a:t>
            </a:r>
            <a:endParaRPr sz="17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</a:pPr>
            <a:r>
              <a:rPr lang="en" sz="1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Machine learning model classifies complaint category and urgency</a:t>
            </a:r>
            <a:endParaRPr sz="17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</a:pPr>
            <a:r>
              <a:rPr lang="en" sz="1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System automatically routes complaints to the concerned department</a:t>
            </a:r>
            <a:endParaRPr sz="17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</a:pPr>
            <a:r>
              <a:rPr lang="en" sz="1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Administrators review and resolve complaints based on priority</a:t>
            </a:r>
            <a:endParaRPr sz="17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8"/>
          <p:cNvSpPr txBox="1"/>
          <p:nvPr>
            <p:ph type="title"/>
          </p:nvPr>
        </p:nvSpPr>
        <p:spPr>
          <a:xfrm>
            <a:off x="226950" y="-193775"/>
            <a:ext cx="7737600" cy="98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 Module Description:</a:t>
            </a:r>
            <a:endParaRPr sz="2200"/>
          </a:p>
        </p:txBody>
      </p:sp>
      <p:graphicFrame>
        <p:nvGraphicFramePr>
          <p:cNvPr id="111" name="Google Shape;111;p18"/>
          <p:cNvGraphicFramePr/>
          <p:nvPr/>
        </p:nvGraphicFramePr>
        <p:xfrm>
          <a:off x="98625" y="492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{14559E56-DCB9-408B-BCCB-2A31E99D03E0}</a:tableStyleId>
              </a:tblPr>
              <a:tblGrid>
                <a:gridCol w="1789475"/>
                <a:gridCol w="1789475"/>
                <a:gridCol w="1789475"/>
                <a:gridCol w="1789475"/>
                <a:gridCol w="1789475"/>
              </a:tblGrid>
              <a:tr h="452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Module Name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Description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Key Functions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Inputs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Outputs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noFill/>
                  </a:tcPr>
                </a:tc>
              </a:tr>
              <a:tr h="810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User (Student) Module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Student interface 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Register, login, submit complaint, view status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User details, complaint data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Complaint status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noFill/>
                  </a:tcPr>
                </a:tc>
              </a:tr>
              <a:tr h="810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Authentication Module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Secures system access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Login, validation, JWT handling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Credentials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Access token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noFill/>
                  </a:tcPr>
                </a:tc>
              </a:tr>
              <a:tr h="810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Complaint Management Module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Manages complaint lifecycle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Store, assign, update complaints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Complaint details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Complaint records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noFill/>
                  </a:tcPr>
                </a:tc>
              </a:tr>
              <a:tr h="810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Priority Prediction Module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Predicts complaint urgency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Text analysis, priority classification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Complaint text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Priority level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noFill/>
                  </a:tcPr>
                </a:tc>
              </a:tr>
              <a:tr h="810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Admin Dashboard Module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Admin control panel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View, assign, update complaints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Complaint data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Updated status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9"/>
          <p:cNvSpPr txBox="1"/>
          <p:nvPr/>
        </p:nvSpPr>
        <p:spPr>
          <a:xfrm>
            <a:off x="92100" y="909300"/>
            <a:ext cx="10492200" cy="38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5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1.Student accesses the complaint portal.</a:t>
            </a:r>
            <a:endParaRPr sz="145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" sz="145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2.Student registers or logs in using valid credentials.</a:t>
            </a:r>
            <a:endParaRPr sz="145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" sz="145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3.Authentication module verifies the user.</a:t>
            </a:r>
            <a:endParaRPr sz="145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" sz="145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4.Student submits a complaint by providing:</a:t>
            </a:r>
            <a:endParaRPr sz="145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-309562" lvl="0" marL="457200" rtl="0" algn="l">
              <a:spcBef>
                <a:spcPts val="200"/>
              </a:spcBef>
              <a:spcAft>
                <a:spcPts val="0"/>
              </a:spcAft>
              <a:buClr>
                <a:schemeClr val="dk2"/>
              </a:buClr>
              <a:buSzPts val="1275"/>
              <a:buFont typeface="Lato"/>
              <a:buChar char="●"/>
            </a:pPr>
            <a:r>
              <a:rPr lang="en" sz="145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Complaint title</a:t>
            </a:r>
            <a:endParaRPr sz="145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-309562" lvl="0" marL="457200" rtl="0" algn="l">
              <a:spcBef>
                <a:spcPts val="200"/>
              </a:spcBef>
              <a:spcAft>
                <a:spcPts val="0"/>
              </a:spcAft>
              <a:buClr>
                <a:schemeClr val="dk2"/>
              </a:buClr>
              <a:buSzPts val="1275"/>
              <a:buFont typeface="Lato"/>
              <a:buChar char="●"/>
            </a:pPr>
            <a:r>
              <a:rPr lang="en" sz="145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Complaint description</a:t>
            </a:r>
            <a:endParaRPr sz="145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-309562" lvl="0" marL="457200" rtl="0" algn="l">
              <a:spcBef>
                <a:spcPts val="200"/>
              </a:spcBef>
              <a:spcAft>
                <a:spcPts val="0"/>
              </a:spcAft>
              <a:buClr>
                <a:schemeClr val="dk2"/>
              </a:buClr>
              <a:buSzPts val="1275"/>
              <a:buFont typeface="Lato"/>
              <a:buChar char="●"/>
            </a:pPr>
            <a:r>
              <a:rPr lang="en" sz="145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Optional image</a:t>
            </a:r>
            <a:endParaRPr sz="145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" sz="145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5.Complaint management module stores the complaint details.</a:t>
            </a:r>
            <a:endParaRPr sz="145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" sz="145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6.Complaint priority prediction module analyzes the complaint content.</a:t>
            </a:r>
            <a:endParaRPr sz="145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" sz="145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7.System assigns priority level:</a:t>
            </a:r>
            <a:endParaRPr sz="145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-309562" lvl="0" marL="457200" rtl="0" algn="l">
              <a:spcBef>
                <a:spcPts val="200"/>
              </a:spcBef>
              <a:spcAft>
                <a:spcPts val="0"/>
              </a:spcAft>
              <a:buClr>
                <a:schemeClr val="dk2"/>
              </a:buClr>
              <a:buSzPts val="1275"/>
              <a:buFont typeface="Lato"/>
              <a:buChar char="●"/>
            </a:pPr>
            <a:r>
              <a:rPr lang="en" sz="145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Low</a:t>
            </a:r>
            <a:endParaRPr sz="145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-309562" lvl="0" marL="457200" rtl="0" algn="l">
              <a:spcBef>
                <a:spcPts val="200"/>
              </a:spcBef>
              <a:spcAft>
                <a:spcPts val="0"/>
              </a:spcAft>
              <a:buClr>
                <a:schemeClr val="dk2"/>
              </a:buClr>
              <a:buSzPts val="1275"/>
              <a:buFont typeface="Lato"/>
              <a:buChar char="●"/>
            </a:pPr>
            <a:r>
              <a:rPr lang="en" sz="145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Medium</a:t>
            </a:r>
            <a:endParaRPr sz="145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-309562" lvl="0" marL="457200" rtl="0" algn="l">
              <a:spcBef>
                <a:spcPts val="200"/>
              </a:spcBef>
              <a:spcAft>
                <a:spcPts val="0"/>
              </a:spcAft>
              <a:buClr>
                <a:schemeClr val="dk2"/>
              </a:buClr>
              <a:buSzPts val="1275"/>
              <a:buFont typeface="Lato"/>
              <a:buChar char="●"/>
            </a:pPr>
            <a:r>
              <a:rPr lang="en" sz="145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High</a:t>
            </a:r>
            <a:endParaRPr sz="145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200"/>
              </a:spcBef>
              <a:spcAft>
                <a:spcPts val="200"/>
              </a:spcAft>
              <a:buNone/>
            </a:pPr>
            <a:r>
              <a:rPr lang="en" sz="145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8.Complaint is displayed in admin dashboard based on priority.</a:t>
            </a:r>
            <a:br>
              <a:rPr lang="en" sz="75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</a:b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7" name="Google Shape;117;p19"/>
          <p:cNvSpPr txBox="1"/>
          <p:nvPr/>
        </p:nvSpPr>
        <p:spPr>
          <a:xfrm>
            <a:off x="225100" y="103675"/>
            <a:ext cx="4106700" cy="7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Workflow / Process Flow</a:t>
            </a:r>
            <a:r>
              <a:rPr lang="en" sz="1800">
                <a:solidFill>
                  <a:srgbClr val="595959"/>
                </a:solidFill>
              </a:rPr>
              <a:t> </a:t>
            </a:r>
            <a:endParaRPr sz="18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0"/>
          <p:cNvSpPr txBox="1"/>
          <p:nvPr/>
        </p:nvSpPr>
        <p:spPr>
          <a:xfrm>
            <a:off x="81425" y="234400"/>
            <a:ext cx="7667700" cy="49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33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9.Admin reviews the complaint.</a:t>
            </a:r>
            <a:endParaRPr sz="1933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" sz="1933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10.Admin updates complaint status:</a:t>
            </a:r>
            <a:endParaRPr sz="1933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6950" lvl="0" marL="457200" rtl="0" algn="l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34"/>
              <a:buFont typeface="Times New Roman"/>
              <a:buChar char="●"/>
            </a:pPr>
            <a:r>
              <a:rPr lang="en" sz="1933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Pending</a:t>
            </a:r>
            <a:endParaRPr sz="1933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6950" lvl="0" marL="457200" rtl="0" algn="l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34"/>
              <a:buFont typeface="Times New Roman"/>
              <a:buChar char="●"/>
            </a:pPr>
            <a:r>
              <a:rPr lang="en" sz="1933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Progress</a:t>
            </a:r>
            <a:endParaRPr sz="1933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6950" lvl="0" marL="457200" rtl="0" algn="l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34"/>
              <a:buFont typeface="Times New Roman"/>
              <a:buChar char="●"/>
            </a:pPr>
            <a:r>
              <a:rPr lang="en" sz="1933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Resolved</a:t>
            </a:r>
            <a:endParaRPr sz="1933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" sz="1933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11.Status update module saves the updated status.</a:t>
            </a:r>
            <a:endParaRPr sz="1933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" sz="1933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12.Notification module sends updates to the student.</a:t>
            </a:r>
            <a:endParaRPr sz="1933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" sz="1933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13.Complaint analytics module updates reports and statistics.</a:t>
            </a:r>
            <a:endParaRPr sz="1933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" sz="1933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14.Student can track complaint status anytime.</a:t>
            </a:r>
            <a:endParaRPr sz="1933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20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21"/>
          <p:cNvPicPr preferRelativeResize="0"/>
          <p:nvPr/>
        </p:nvPicPr>
        <p:blipFill rotWithShape="1">
          <a:blip r:embed="rId3">
            <a:alphaModFix/>
          </a:blip>
          <a:srcRect b="13186" l="0" r="0" t="0"/>
          <a:stretch/>
        </p:blipFill>
        <p:spPr>
          <a:xfrm>
            <a:off x="-291325" y="-95400"/>
            <a:ext cx="9435325" cy="5238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2"/>
          <p:cNvSpPr txBox="1"/>
          <p:nvPr/>
        </p:nvSpPr>
        <p:spPr>
          <a:xfrm>
            <a:off x="311700" y="0"/>
            <a:ext cx="8520600" cy="21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</a:rPr>
              <a:t>Input:</a:t>
            </a:r>
            <a:endParaRPr sz="18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95959"/>
                </a:solidFill>
              </a:rPr>
              <a:t>Student login credentials</a:t>
            </a:r>
            <a:endParaRPr sz="18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95959"/>
                </a:solidFill>
              </a:rPr>
              <a:t>Complaint title</a:t>
            </a:r>
            <a:endParaRPr sz="18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95959"/>
                </a:solidFill>
              </a:rPr>
              <a:t>Complaint description</a:t>
            </a:r>
            <a:endParaRPr sz="18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95959"/>
                </a:solidFill>
              </a:rPr>
              <a:t>Complaint image (optional)</a:t>
            </a:r>
            <a:endParaRPr sz="18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95959"/>
                </a:solidFill>
              </a:rPr>
              <a:t>Admin status update actions</a:t>
            </a:r>
            <a:endParaRPr sz="18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133" name="Google Shape;133;p22"/>
          <p:cNvSpPr txBox="1"/>
          <p:nvPr/>
        </p:nvSpPr>
        <p:spPr>
          <a:xfrm>
            <a:off x="311700" y="1803975"/>
            <a:ext cx="4629300" cy="37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Process:</a:t>
            </a:r>
            <a:endParaRPr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br>
              <a:rPr lang="en" sz="15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17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 authentication and authorization.</a:t>
            </a:r>
            <a:endParaRPr sz="1700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Complaint data validation and storage.</a:t>
            </a:r>
            <a:endParaRPr sz="1700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Priority prediction using complaint content.</a:t>
            </a:r>
            <a:endParaRPr sz="1700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Sorting complaints based on urgency.</a:t>
            </a:r>
            <a:endParaRPr sz="1700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Admin review and status update.</a:t>
            </a:r>
            <a:endParaRPr sz="1700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Notification triggering.</a:t>
            </a:r>
            <a:endParaRPr sz="1700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analysis and report generation.</a:t>
            </a:r>
            <a:endParaRPr sz="1700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Output:</a:t>
            </a:r>
            <a:endParaRPr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" sz="1716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Successfully registered complaints.</a:t>
            </a:r>
            <a:endParaRPr sz="1716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" sz="1716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Predicted complaint priority (Low / Medium / High).</a:t>
            </a:r>
            <a:endParaRPr sz="1716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" sz="1716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Updated complaint status.</a:t>
            </a:r>
            <a:endParaRPr sz="1716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" sz="1716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Email / WhatsApp notifications.</a:t>
            </a:r>
            <a:endParaRPr sz="1716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" sz="1716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Complaint analytics and reports.</a:t>
            </a:r>
            <a:endParaRPr sz="1716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" sz="1716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Improved response time and transparency.</a:t>
            </a:r>
            <a:endParaRPr sz="1716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1425" y="858700"/>
            <a:ext cx="7423450" cy="4152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23"/>
          <p:cNvSpPr txBox="1"/>
          <p:nvPr/>
        </p:nvSpPr>
        <p:spPr>
          <a:xfrm>
            <a:off x="176000" y="1871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Char char="❖"/>
            </a:pPr>
            <a:r>
              <a:rPr lang="en" sz="2800">
                <a:solidFill>
                  <a:srgbClr val="000000"/>
                </a:solidFill>
              </a:rPr>
              <a:t>Use Case Diagram</a:t>
            </a:r>
            <a:endParaRPr sz="28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24"/>
          <p:cNvPicPr preferRelativeResize="0"/>
          <p:nvPr/>
        </p:nvPicPr>
        <p:blipFill rotWithShape="1">
          <a:blip r:embed="rId3">
            <a:alphaModFix/>
          </a:blip>
          <a:srcRect b="6785" l="9267" r="12723" t="0"/>
          <a:stretch/>
        </p:blipFill>
        <p:spPr>
          <a:xfrm>
            <a:off x="3881375" y="0"/>
            <a:ext cx="4505649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4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Char char="❖"/>
            </a:pPr>
            <a:r>
              <a:rPr lang="en" sz="2800">
                <a:solidFill>
                  <a:srgbClr val="000000"/>
                </a:solidFill>
              </a:rPr>
              <a:t>Activity Diagram</a:t>
            </a:r>
            <a:endParaRPr sz="28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9975" y="678450"/>
            <a:ext cx="5794924" cy="4465049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5"/>
          <p:cNvSpPr txBox="1"/>
          <p:nvPr/>
        </p:nvSpPr>
        <p:spPr>
          <a:xfrm>
            <a:off x="94575" y="1057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Char char="❖"/>
            </a:pPr>
            <a:r>
              <a:rPr lang="en" sz="2800">
                <a:solidFill>
                  <a:srgbClr val="000000"/>
                </a:solidFill>
              </a:rPr>
              <a:t>Class Diagram</a:t>
            </a:r>
            <a:endParaRPr sz="28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26"/>
          <p:cNvPicPr preferRelativeResize="0"/>
          <p:nvPr/>
        </p:nvPicPr>
        <p:blipFill rotWithShape="1">
          <a:blip r:embed="rId3">
            <a:alphaModFix/>
          </a:blip>
          <a:srcRect b="-5786" l="7692" r="8422" t="0"/>
          <a:stretch/>
        </p:blipFill>
        <p:spPr>
          <a:xfrm>
            <a:off x="3976025" y="92100"/>
            <a:ext cx="40283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6"/>
          <p:cNvSpPr txBox="1"/>
          <p:nvPr/>
        </p:nvSpPr>
        <p:spPr>
          <a:xfrm>
            <a:off x="175975" y="404300"/>
            <a:ext cx="3651000" cy="5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-393065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❖"/>
            </a:pPr>
            <a:r>
              <a:rPr lang="en" sz="2800">
                <a:solidFill>
                  <a:srgbClr val="000000"/>
                </a:solidFill>
              </a:rPr>
              <a:t>Sequence Diagram</a:t>
            </a:r>
            <a:endParaRPr sz="28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27" title="Screenshot 2026-01-23 22474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7076" y="552225"/>
            <a:ext cx="3674925" cy="459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27" title="Screenshot 2026-01-23 22483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64675" y="375875"/>
            <a:ext cx="3674925" cy="4502375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7"/>
          <p:cNvSpPr txBox="1"/>
          <p:nvPr/>
        </p:nvSpPr>
        <p:spPr>
          <a:xfrm>
            <a:off x="0" y="90525"/>
            <a:ext cx="3898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chemeClr val="dk2"/>
                </a:solidFill>
                <a:latin typeface="Lato Black"/>
                <a:ea typeface="Lato Black"/>
                <a:cs typeface="Lato Black"/>
                <a:sym typeface="Lato Black"/>
              </a:rPr>
              <a:t>Plagiarism Report</a:t>
            </a:r>
            <a:endParaRPr>
              <a:solidFill>
                <a:schemeClr val="dk2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8"/>
          <p:cNvSpPr txBox="1"/>
          <p:nvPr>
            <p:ph type="title"/>
          </p:nvPr>
        </p:nvSpPr>
        <p:spPr>
          <a:xfrm>
            <a:off x="261750" y="0"/>
            <a:ext cx="8620500" cy="10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Conclusion:</a:t>
            </a:r>
            <a:endParaRPr/>
          </a:p>
        </p:txBody>
      </p:sp>
      <p:sp>
        <p:nvSpPr>
          <p:cNvPr id="170" name="Google Shape;170;p28"/>
          <p:cNvSpPr/>
          <p:nvPr/>
        </p:nvSpPr>
        <p:spPr>
          <a:xfrm>
            <a:off x="182250" y="857925"/>
            <a:ext cx="3028200" cy="3329400"/>
          </a:xfrm>
          <a:prstGeom prst="wedgeRectCallout">
            <a:avLst>
              <a:gd fmla="val -20833" name="adj1"/>
              <a:gd fmla="val 625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28"/>
          <p:cNvSpPr/>
          <p:nvPr/>
        </p:nvSpPr>
        <p:spPr>
          <a:xfrm>
            <a:off x="3210425" y="857925"/>
            <a:ext cx="2838600" cy="3375900"/>
          </a:xfrm>
          <a:prstGeom prst="wedgeRectCallout">
            <a:avLst>
              <a:gd fmla="val -20833" name="adj1"/>
              <a:gd fmla="val 625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28"/>
          <p:cNvSpPr/>
          <p:nvPr/>
        </p:nvSpPr>
        <p:spPr>
          <a:xfrm>
            <a:off x="6049100" y="904400"/>
            <a:ext cx="2838600" cy="3329400"/>
          </a:xfrm>
          <a:prstGeom prst="wedgeRectCallout">
            <a:avLst>
              <a:gd fmla="val -20833" name="adj1"/>
              <a:gd fmla="val 6250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28"/>
          <p:cNvSpPr txBox="1"/>
          <p:nvPr>
            <p:ph type="title"/>
          </p:nvPr>
        </p:nvSpPr>
        <p:spPr>
          <a:xfrm>
            <a:off x="6161225" y="904400"/>
            <a:ext cx="2481600" cy="316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Future Scope</a:t>
            </a:r>
            <a:endParaRPr sz="14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●"/>
            </a:pPr>
            <a:r>
              <a:rPr b="0" lang="en" sz="12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Improve model accuracy using advanced deep learning techniques</a:t>
            </a:r>
            <a:br>
              <a:rPr b="0" lang="en" sz="12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endParaRPr b="0" sz="12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●"/>
            </a:pPr>
            <a:r>
              <a:rPr b="0" lang="en" sz="12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Add multilingual complaint support</a:t>
            </a:r>
            <a:br>
              <a:rPr b="0" lang="en" sz="12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endParaRPr b="0" sz="12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●"/>
            </a:pPr>
            <a:r>
              <a:rPr b="0" lang="en" sz="12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Deploy as a mobile application for wider accessibility</a:t>
            </a:r>
            <a:endParaRPr b="0" sz="12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●"/>
            </a:pPr>
            <a:r>
              <a:t/>
            </a:r>
            <a:endParaRPr b="0" sz="12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●"/>
            </a:pPr>
            <a:r>
              <a:rPr b="0" lang="en" sz="12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AI </a:t>
            </a:r>
            <a:r>
              <a:rPr b="0" lang="en" sz="12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implementation</a:t>
            </a:r>
            <a:endParaRPr b="0" sz="12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28"/>
          <p:cNvSpPr txBox="1"/>
          <p:nvPr>
            <p:ph type="title"/>
          </p:nvPr>
        </p:nvSpPr>
        <p:spPr>
          <a:xfrm>
            <a:off x="259625" y="1019700"/>
            <a:ext cx="2838600" cy="344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Design Summary</a:t>
            </a:r>
            <a:endParaRPr sz="15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Char char="●"/>
            </a:pPr>
            <a:r>
              <a:rPr b="0" lang="en" sz="13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Proposed an AI-based college complaint resolution system</a:t>
            </a:r>
            <a:endParaRPr b="0" sz="13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Char char="●"/>
            </a:pPr>
            <a:r>
              <a:t/>
            </a:r>
            <a:endParaRPr b="0" sz="13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Char char="●"/>
            </a:pPr>
            <a:r>
              <a:rPr b="0" lang="en" sz="13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Uses NLP, TF-IDF, and machine learning for complaint categorization and prioritization</a:t>
            </a:r>
            <a:endParaRPr b="0" sz="13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Char char="●"/>
            </a:pPr>
            <a:r>
              <a:t/>
            </a:r>
            <a:endParaRPr b="0" sz="13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Char char="●"/>
            </a:pPr>
            <a:r>
              <a:rPr b="0" lang="en" sz="13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Automates complaint routing, tracking, and notifications</a:t>
            </a:r>
            <a:endParaRPr sz="2300"/>
          </a:p>
        </p:txBody>
      </p:sp>
      <p:sp>
        <p:nvSpPr>
          <p:cNvPr id="175" name="Google Shape;175;p28"/>
          <p:cNvSpPr txBox="1"/>
          <p:nvPr>
            <p:ph type="title"/>
          </p:nvPr>
        </p:nvSpPr>
        <p:spPr>
          <a:xfrm>
            <a:off x="3286625" y="904400"/>
            <a:ext cx="2481600" cy="316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Implementation Plan</a:t>
            </a:r>
            <a:endParaRPr sz="15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Char char="●"/>
            </a:pPr>
            <a:r>
              <a:rPr b="0" lang="en" sz="13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Develop student and admin modules with secure authentication</a:t>
            </a:r>
            <a:br>
              <a:rPr b="0" lang="en" sz="13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endParaRPr b="0" sz="13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Char char="●"/>
            </a:pPr>
            <a:r>
              <a:rPr b="0" lang="en" sz="13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Train ML model using historical complaint data</a:t>
            </a:r>
            <a:br>
              <a:rPr b="0" lang="en" sz="13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endParaRPr b="0" sz="13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Char char="●"/>
            </a:pPr>
            <a:r>
              <a:rPr b="0" lang="en" sz="13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Integrate priority prediction with complaint management workflow</a:t>
            </a:r>
            <a:endParaRPr b="0" sz="13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300"/>
          </a:p>
        </p:txBody>
      </p:sp>
      <p:sp>
        <p:nvSpPr>
          <p:cNvPr id="176" name="Google Shape;176;p28"/>
          <p:cNvSpPr txBox="1"/>
          <p:nvPr/>
        </p:nvSpPr>
        <p:spPr>
          <a:xfrm>
            <a:off x="283100" y="4654975"/>
            <a:ext cx="6244200" cy="25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200">
              <a:solidFill>
                <a:schemeClr val="accent5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4700" y="162737"/>
            <a:ext cx="4254600" cy="48180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182" name="Google Shape;182;p29"/>
          <p:cNvPicPr preferRelativeResize="0"/>
          <p:nvPr/>
        </p:nvPicPr>
        <p:blipFill rotWithShape="1">
          <a:blip r:embed="rId4">
            <a:alphaModFix/>
          </a:blip>
          <a:srcRect b="10011" l="9244" r="2118" t="5926"/>
          <a:stretch/>
        </p:blipFill>
        <p:spPr>
          <a:xfrm rot="154828">
            <a:off x="3536000" y="147301"/>
            <a:ext cx="2072000" cy="73605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9"/>
          <p:cNvSpPr txBox="1"/>
          <p:nvPr/>
        </p:nvSpPr>
        <p:spPr>
          <a:xfrm>
            <a:off x="3266400" y="1874897"/>
            <a:ext cx="34329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THANK YOU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wiss">
  <a:themeElements>
    <a:clrScheme name="Swiss">
      <a:dk1>
        <a:srgbClr val="F46524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